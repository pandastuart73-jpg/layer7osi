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si_v2/art/hero_tit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051560"/>
            <a:ext cx="5120640" cy="3986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OSI MODEL  ·  NETWORKING FUNDAMENTALS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94360" y="1965960"/>
            <a:ext cx="57607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Application Layer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310896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8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7 of the OSI Model — where networks meet the software people actually use.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416052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A9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 </a:t>
            </a:r>
            <a:endParaRPr lang="en-US" sz="1300" dirty="0">
              <a:solidFill>
                <a:srgbClr val="8DA9C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endParaRPr lang="en-US" sz="1300" dirty="0">
              <a:solidFill>
                <a:srgbClr val="8DA9C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endParaRPr lang="en-US" sz="1300" dirty="0">
              <a:solidFill>
                <a:srgbClr val="8DA9C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endParaRPr lang="en-US" sz="1300" dirty="0">
              <a:solidFill>
                <a:srgbClr val="8DA9C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endParaRPr lang="en-US" sz="1300" dirty="0">
              <a:solidFill>
                <a:srgbClr val="8DA9C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endParaRPr lang="en-US" sz="1300" dirty="0">
              <a:solidFill>
                <a:srgbClr val="8DA9C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8DA9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Presented by </a:t>
            </a:r>
            <a:endParaRPr lang="en-US" sz="1300" dirty="0">
              <a:solidFill>
                <a:srgbClr val="8DA9C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  <a:sym typeface="+mn-ea"/>
              </a:rPr>
              <a:t>1 Jonathans Stefane Irene </a:t>
            </a:r>
            <a:endParaRPr lang="en-US" sz="1300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  <a:sym typeface="+mn-ea"/>
              </a:rPr>
              <a:t>Nabukenya Sarah</a:t>
            </a:r>
            <a:endParaRPr lang="en-US" sz="1300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  <a:sym typeface="+mn-ea"/>
              </a:rPr>
              <a:t>Wamala Stuart</a:t>
            </a:r>
            <a:endParaRPr lang="en-US" sz="1300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  <a:sym typeface="+mn-ea"/>
              </a:rPr>
              <a:t>ssettuba imran</a:t>
            </a:r>
            <a:endParaRPr lang="en-US" sz="1300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  <a:sym typeface="+mn-ea"/>
              </a:rPr>
              <a:t>Ndahayo Dieu Est la</a:t>
            </a:r>
            <a:endParaRPr lang="en-US" sz="1300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  <a:sym typeface="+mn-ea"/>
              </a:rPr>
              <a:t>Takua Jenifer David</a:t>
            </a:r>
            <a:endParaRPr lang="en-US" sz="1300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  <a:sym typeface="+mn-ea"/>
              </a:rPr>
              <a:t>Akello Robinah patience</a:t>
            </a:r>
            <a:endParaRPr lang="en-US" sz="1300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  <a:sym typeface="+mn-ea"/>
              </a:rPr>
              <a:t>Apio  Agatha</a:t>
            </a:r>
            <a:endParaRPr lang="en-US" sz="1300" dirty="0">
              <a:solidFill>
                <a:schemeClr val="accent4"/>
              </a:solidFill>
            </a:endParaRP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A9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Where Layer 7 Sits in the OSI Model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6126480" cy="576072"/>
          </a:xfrm>
          <a:prstGeom prst="roundRect">
            <a:avLst>
              <a:gd name="adj" fmla="val 9524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417320"/>
            <a:ext cx="41148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D6A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34440" y="1463040"/>
            <a:ext cx="182880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108960" y="1463040"/>
            <a:ext cx="338328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8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HTTP, DNS, SMTP — user-facing services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048256"/>
            <a:ext cx="6126480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048256"/>
            <a:ext cx="41148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EC2D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2093976"/>
            <a:ext cx="182880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108960" y="2093976"/>
            <a:ext cx="338328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Encryption, compression, formatting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679192"/>
            <a:ext cx="6126480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2679192"/>
            <a:ext cx="41148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EC2D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2724912"/>
            <a:ext cx="182880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108960" y="2724912"/>
            <a:ext cx="338328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Establishes &amp; manages connections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3310128"/>
            <a:ext cx="6126480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3310128"/>
            <a:ext cx="41148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EC2D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34440" y="3355848"/>
            <a:ext cx="182880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Transport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108960" y="3355848"/>
            <a:ext cx="338328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TCP / UDP — reliable delivery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3941064"/>
            <a:ext cx="6126480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3941064"/>
            <a:ext cx="41148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EC2D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234440" y="3986784"/>
            <a:ext cx="182880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3108960" y="3986784"/>
            <a:ext cx="338328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 addressing &amp; routing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4572000"/>
            <a:ext cx="6126480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" y="4572000"/>
            <a:ext cx="41148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EC2D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234440" y="4617720"/>
            <a:ext cx="182880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Link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3108960" y="4617720"/>
            <a:ext cx="338328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 addressing, switches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5202936"/>
            <a:ext cx="6126480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" y="5202936"/>
            <a:ext cx="41148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EC2D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234440" y="5248656"/>
            <a:ext cx="182880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3108960" y="5248656"/>
            <a:ext cx="338328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Cables, signals, hardware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  <p:pic>
        <p:nvPicPr>
          <p:cNvPr id="34" name="Picture 33" descr="1_7oij_OwyD5YDnJqt3rXuC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8615" y="571500"/>
            <a:ext cx="5112385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7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the Application Layer?</a:t>
            </a:r>
            <a:endParaRPr lang="en-US" sz="2900" dirty="0"/>
          </a:p>
        </p:txBody>
      </p:sp>
      <p:pic>
        <p:nvPicPr>
          <p:cNvPr id="4" name="Image 0" descr="/home/claude/osi_v2/art/hero_ex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298448"/>
            <a:ext cx="3511296" cy="24140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3913632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Application Layer is the OSI layer closest to the end user. </a:t>
            </a:r>
            <a:r>
              <a:rPr lang="en-US" sz="1500" dirty="0">
                <a:solidFill>
                  <a:srgbClr val="133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doesn't move data across a wire — it defines the rules that let software (browsers, email clients, apps) request and exchange data in a way both ends understand.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94360" y="5029200"/>
            <a:ext cx="118872" cy="118872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7" name="Text 4"/>
          <p:cNvSpPr/>
          <p:nvPr/>
        </p:nvSpPr>
        <p:spPr>
          <a:xfrm>
            <a:off x="822960" y="4892040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It's an interface, not a program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94360" y="5276088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Apps use Layer 7 protocols; they aren't part of the layer itself.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5029200"/>
            <a:ext cx="118872" cy="118872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10" name="Text 7"/>
          <p:cNvSpPr/>
          <p:nvPr/>
        </p:nvSpPr>
        <p:spPr>
          <a:xfrm>
            <a:off x="4526280" y="4892040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defines shared rules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297680" y="5276088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 and SMTP set the format both sender and receiver must follow.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001000" y="5029200"/>
            <a:ext cx="118872" cy="118872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13" name="Text 10"/>
          <p:cNvSpPr/>
          <p:nvPr/>
        </p:nvSpPr>
        <p:spPr>
          <a:xfrm>
            <a:off x="8229600" y="4892040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It's protocol-driven, not hardware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01000" y="5276088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cables here — just standards that let systems interoperate.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73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FUNCTIONS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the Application Layer Actually Does</a:t>
            </a:r>
            <a:endParaRPr lang="en-US" sz="2900" dirty="0"/>
          </a:p>
        </p:txBody>
      </p:sp>
      <p:pic>
        <p:nvPicPr>
          <p:cNvPr id="4" name="Image 0" descr="/home/claude/osi_v2/art/hero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846320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1371600"/>
            <a:ext cx="118872" cy="118872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6" name="Text 3"/>
          <p:cNvSpPr/>
          <p:nvPr/>
        </p:nvSpPr>
        <p:spPr>
          <a:xfrm>
            <a:off x="5742432" y="1280160"/>
            <a:ext cx="58704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Identifies communication partners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742432" y="1554480"/>
            <a:ext cx="58704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00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</a:rPr>
              <a:t>Confirms availability and identity of the party you're trying to reach.</a:t>
            </a:r>
            <a:endParaRPr lang="en-US" sz="1400" dirty="0">
              <a:solidFill>
                <a:srgbClr val="FFFF00"/>
              </a:solidFill>
              <a:latin typeface="Arial Black" panose="020B0A04020102020204" charset="0"/>
              <a:ea typeface="Calibri" panose="020F0502020204030204" pitchFamily="34" charset="-122"/>
              <a:cs typeface="Arial Black" panose="020B0A0402010202020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0" y="2084832"/>
            <a:ext cx="118872" cy="118872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9" name="Text 6"/>
          <p:cNvSpPr/>
          <p:nvPr/>
        </p:nvSpPr>
        <p:spPr>
          <a:xfrm>
            <a:off x="5742432" y="1993392"/>
            <a:ext cx="58704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Authenticates &amp; authorizes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42432" y="2267712"/>
            <a:ext cx="58704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00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</a:rPr>
              <a:t>Verifies identity and permission to exchange the requested data.</a:t>
            </a:r>
            <a:endParaRPr lang="en-US" sz="1200" dirty="0">
              <a:solidFill>
                <a:srgbClr val="FFFF00"/>
              </a:solidFill>
              <a:latin typeface="Arial Black" panose="020B0A04020102020204" charset="0"/>
              <a:ea typeface="Calibri" panose="020F0502020204030204" pitchFamily="34" charset="-122"/>
              <a:cs typeface="Arial Black" panose="020B0A0402010202020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0" y="2798064"/>
            <a:ext cx="118872" cy="118872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12" name="Text 9"/>
          <p:cNvSpPr/>
          <p:nvPr/>
        </p:nvSpPr>
        <p:spPr>
          <a:xfrm>
            <a:off x="5742432" y="2706624"/>
            <a:ext cx="58704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Syncs data &amp; formats requests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742432" y="2980944"/>
            <a:ext cx="58704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00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</a:rPr>
              <a:t>Structures data (JSON, XML, form fields) for the receiving app.</a:t>
            </a:r>
            <a:endParaRPr lang="en-US" sz="1200" dirty="0">
              <a:solidFill>
                <a:srgbClr val="FFFF00"/>
              </a:solidFill>
              <a:latin typeface="Arial Black" panose="020B0A04020102020204" charset="0"/>
              <a:ea typeface="Calibri" panose="020F0502020204030204" pitchFamily="34" charset="-122"/>
              <a:cs typeface="Arial Black" panose="020B0A0402010202020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486400" y="3511296"/>
            <a:ext cx="118872" cy="118872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15" name="Text 12"/>
          <p:cNvSpPr/>
          <p:nvPr/>
        </p:nvSpPr>
        <p:spPr>
          <a:xfrm>
            <a:off x="5742432" y="3419856"/>
            <a:ext cx="58704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Manages the user-facing session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742432" y="3694176"/>
            <a:ext cx="58704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00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</a:rPr>
              <a:t>Coordinates login state, upload progress, and similar app-level flow.</a:t>
            </a:r>
            <a:endParaRPr lang="en-US" sz="1200" dirty="0">
              <a:solidFill>
                <a:srgbClr val="FFFF00"/>
              </a:solidFill>
              <a:latin typeface="Arial Black" panose="020B0A04020102020204" charset="0"/>
              <a:ea typeface="Calibri" panose="020F0502020204030204" pitchFamily="34" charset="-122"/>
              <a:cs typeface="Arial Black" panose="020B0A0402010202020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486400" y="4224528"/>
            <a:ext cx="118872" cy="118872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18" name="Text 15"/>
          <p:cNvSpPr/>
          <p:nvPr/>
        </p:nvSpPr>
        <p:spPr>
          <a:xfrm>
            <a:off x="5742432" y="4133088"/>
            <a:ext cx="58704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Handles errors application-side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742432" y="4407408"/>
            <a:ext cx="58704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00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</a:rPr>
              <a:t>Surfaces meaningful errors (404, bounced email) instead of raw failures.</a:t>
            </a:r>
            <a:endParaRPr lang="en-US" sz="1200" dirty="0">
              <a:solidFill>
                <a:srgbClr val="FFFF00"/>
              </a:solidFill>
              <a:latin typeface="Arial Black" panose="020B0A04020102020204" charset="0"/>
              <a:ea typeface="Calibri" panose="020F0502020204030204" pitchFamily="34" charset="-122"/>
              <a:cs typeface="Arial Black" panose="020B0A0402010202020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486400" y="4937760"/>
            <a:ext cx="118872" cy="118872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21" name="Text 18"/>
          <p:cNvSpPr/>
          <p:nvPr/>
        </p:nvSpPr>
        <p:spPr>
          <a:xfrm>
            <a:off x="5742432" y="4846320"/>
            <a:ext cx="58704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Bridges user &amp; network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742432" y="5120640"/>
            <a:ext cx="58704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00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</a:rPr>
              <a:t>Translates a click or command into a network-ready protocol message.</a:t>
            </a:r>
            <a:endParaRPr lang="en-US" sz="1200" dirty="0">
              <a:solidFill>
                <a:srgbClr val="FFFF00"/>
              </a:solidFill>
              <a:latin typeface="Arial Black" panose="020B0A04020102020204" charset="0"/>
              <a:ea typeface="Calibri" panose="020F0502020204030204" pitchFamily="34" charset="-122"/>
              <a:cs typeface="Arial Black" panose="020B0A0402010202020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73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Common Layer 7 Protocols</a:t>
            </a:r>
            <a:endParaRPr lang="en-US" sz="2900" dirty="0"/>
          </a:p>
        </p:txBody>
      </p:sp>
      <p:pic>
        <p:nvPicPr>
          <p:cNvPr id="4" name="Image 0" descr="/home/claude/osi_v2/art/hero_protoc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1371600"/>
            <a:ext cx="4572000" cy="21305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3703320"/>
            <a:ext cx="10881360" cy="438912"/>
          </a:xfrm>
          <a:prstGeom prst="roundRect">
            <a:avLst>
              <a:gd name="adj" fmla="val 10417"/>
            </a:avLst>
          </a:prstGeom>
          <a:solidFill>
            <a:srgbClr val="F6F9FC"/>
          </a:solidFill>
          <a:ln w="12700">
            <a:solidFill>
              <a:srgbClr val="E5EC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3703320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 / HTTPS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931920" y="3703320"/>
            <a:ext cx="5943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3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browsing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0241280" y="3703320"/>
            <a:ext cx="1097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443, 80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4197096"/>
            <a:ext cx="1088136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5EC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197096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SMTP / IMAP / POP3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931920" y="4197096"/>
            <a:ext cx="5943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3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Sending &amp; receiving email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0241280" y="4197096"/>
            <a:ext cx="1097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25, 143, 110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4690872"/>
            <a:ext cx="10881360" cy="438912"/>
          </a:xfrm>
          <a:prstGeom prst="roundRect">
            <a:avLst>
              <a:gd name="adj" fmla="val 10417"/>
            </a:avLst>
          </a:prstGeom>
          <a:solidFill>
            <a:srgbClr val="F6F9FC"/>
          </a:solidFill>
          <a:ln w="12700">
            <a:solidFill>
              <a:srgbClr val="E5ECF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4690872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FTP / SFTP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931920" y="4690872"/>
            <a:ext cx="5943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3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transfer between systems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0241280" y="4690872"/>
            <a:ext cx="1097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21, 22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" y="5184648"/>
            <a:ext cx="1088136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5ECF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5184648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DNS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931920" y="5184648"/>
            <a:ext cx="5943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3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Translates domain names to IP addresses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0241280" y="5184648"/>
            <a:ext cx="1097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40080" y="5678424"/>
            <a:ext cx="10881360" cy="438912"/>
          </a:xfrm>
          <a:prstGeom prst="roundRect">
            <a:avLst>
              <a:gd name="adj" fmla="val 10417"/>
            </a:avLst>
          </a:prstGeom>
          <a:solidFill>
            <a:srgbClr val="F6F9FC"/>
          </a:solidFill>
          <a:ln w="12700">
            <a:solidFill>
              <a:srgbClr val="E5ECF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5678424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SSH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3931920" y="5678424"/>
            <a:ext cx="5943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3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remote login to a system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0241280" y="5678424"/>
            <a:ext cx="1097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40080" y="6172200"/>
            <a:ext cx="1088136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5ECF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8680" y="6172200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DHCP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3931920" y="6172200"/>
            <a:ext cx="5943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3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Assigns IP addresses on a network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10241280" y="6172200"/>
            <a:ext cx="1097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67, 68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5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Layer 7 in a Single Page Load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DA9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happens at the Application Layer when you type a URL and hit enter.</a:t>
            </a:r>
            <a:endParaRPr lang="en-US" sz="1350" dirty="0"/>
          </a:p>
        </p:txBody>
      </p:sp>
      <p:pic>
        <p:nvPicPr>
          <p:cNvPr id="5" name="Image 0" descr="/home/claude/osi_v2/art/hero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1783080"/>
            <a:ext cx="8686800" cy="2523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45262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D6A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489204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0B0F0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</a:rPr>
              <a:t>You type the URL</a:t>
            </a:r>
            <a:endParaRPr lang="en-US" sz="1400" b="1" dirty="0">
              <a:solidFill>
                <a:srgbClr val="00B0F0"/>
              </a:solidFill>
              <a:latin typeface="Arial Black" panose="020B0A04020102020204" charset="0"/>
              <a:ea typeface="Calibri" panose="020F0502020204030204" pitchFamily="34" charset="-122"/>
              <a:cs typeface="Arial Black" panose="020B0A0402010202020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22960" y="5349240"/>
            <a:ext cx="2514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0000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</a:rPr>
              <a:t>Browser prepares to resolve the domain into a routable address.</a:t>
            </a:r>
            <a:endParaRPr lang="en-US" sz="1400" dirty="0">
              <a:solidFill>
                <a:srgbClr val="FF0000"/>
              </a:solidFill>
              <a:latin typeface="Arial Black" panose="020B0A04020102020204" charset="0"/>
              <a:ea typeface="Calibri" panose="020F0502020204030204" pitchFamily="34" charset="-122"/>
              <a:cs typeface="Arial Black" panose="020B0A040201020202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593592" y="45262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D6A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593592" y="489204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B0F0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</a:rPr>
              <a:t>DNS resolves the name</a:t>
            </a:r>
            <a:endParaRPr lang="en-US" sz="1300" b="1" dirty="0">
              <a:solidFill>
                <a:srgbClr val="00B0F0"/>
              </a:solidFill>
              <a:latin typeface="Arial Black" panose="020B0A04020102020204" charset="0"/>
              <a:ea typeface="Calibri" panose="020F0502020204030204" pitchFamily="34" charset="-122"/>
              <a:cs typeface="Arial Black" panose="020B0A0402010202020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593592" y="5349240"/>
            <a:ext cx="2514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0000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</a:rPr>
              <a:t>A DNS query (Layer 7) translates the domain into an IP address.</a:t>
            </a:r>
            <a:endParaRPr lang="en-US" sz="1200" dirty="0">
              <a:solidFill>
                <a:srgbClr val="FF0000"/>
              </a:solidFill>
              <a:latin typeface="Arial Black" panose="020B0A04020102020204" charset="0"/>
              <a:ea typeface="Calibri" panose="020F0502020204030204" pitchFamily="34" charset="-122"/>
              <a:cs typeface="Arial Black" panose="020B0A040201020202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364224" y="45262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D6A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364224" y="489204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B0F0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</a:rPr>
              <a:t>HTTP request is sent</a:t>
            </a:r>
            <a:endParaRPr lang="en-US" sz="1300" b="1" dirty="0">
              <a:solidFill>
                <a:srgbClr val="00B0F0"/>
              </a:solidFill>
              <a:latin typeface="Arial Black" panose="020B0A04020102020204" charset="0"/>
              <a:ea typeface="Calibri" panose="020F0502020204030204" pitchFamily="34" charset="-122"/>
              <a:cs typeface="Arial Black" panose="020B0A0402010202020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364224" y="5349240"/>
            <a:ext cx="2514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0000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</a:rPr>
              <a:t>The browser builds an HTTP GET — headers, method, resource.</a:t>
            </a:r>
            <a:endParaRPr lang="en-US" sz="1200" dirty="0">
              <a:solidFill>
                <a:srgbClr val="FF0000"/>
              </a:solidFill>
              <a:latin typeface="Arial Black" panose="020B0A04020102020204" charset="0"/>
              <a:ea typeface="Calibri" panose="020F0502020204030204" pitchFamily="34" charset="-122"/>
              <a:cs typeface="Arial Black" panose="020B0A0402010202020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134856" y="45262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D6A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134856" y="489204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B0F0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</a:rPr>
              <a:t>Server responds</a:t>
            </a:r>
            <a:endParaRPr lang="en-US" sz="1300" b="1" dirty="0">
              <a:solidFill>
                <a:srgbClr val="00B0F0"/>
              </a:solidFill>
              <a:latin typeface="Arial Black" panose="020B0A04020102020204" charset="0"/>
              <a:ea typeface="Calibri" panose="020F0502020204030204" pitchFamily="34" charset="-122"/>
              <a:cs typeface="Arial Black" panose="020B0A0402010202020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134856" y="5349240"/>
            <a:ext cx="2514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0000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</a:rPr>
              <a:t>An HTTP status and the page's HTML come back, ready to render.</a:t>
            </a:r>
            <a:endParaRPr lang="en-US" sz="1200" dirty="0">
              <a:solidFill>
                <a:srgbClr val="FF0000"/>
              </a:solidFill>
              <a:latin typeface="Arial Black" panose="020B0A04020102020204" charset="0"/>
              <a:ea typeface="Calibri" panose="020F0502020204030204" pitchFamily="34" charset="-122"/>
              <a:cs typeface="Arial Black" panose="020B0A0402010202020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A9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5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DON'T CONFUSE THESE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Layer 7 vs. Layer 6 — A Common Mix-Up</a:t>
            </a:r>
            <a:endParaRPr lang="en-US" sz="2900" dirty="0"/>
          </a:p>
        </p:txBody>
      </p:sp>
      <p:pic>
        <p:nvPicPr>
          <p:cNvPr id="4" name="Image 0" descr="/home/claude/osi_v2/art/hero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325880"/>
            <a:ext cx="493776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343400"/>
            <a:ext cx="5212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7 — APPLICATION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4672584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3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What the user's software is trying to do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5001768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3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Defines HTTP, SMTP, DNS, FTP requests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5330952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3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Example: “Get me this webpage”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17920" y="4343400"/>
            <a:ext cx="5212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18A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6 — PRESENTATION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217920" y="4672584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3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How the data is packaged for transport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17920" y="5001768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3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Handles encryption (TLS), compression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0" y="5330952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3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Example: “Encrypt this before it's sent”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si_v2/art/hero_thank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60020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Remember This About Layer 7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D6A0"/>
          </a:solidFill>
        </p:spPr>
      </p:sp>
      <p:sp>
        <p:nvSpPr>
          <p:cNvPr id="6" name="Text 3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88720" y="1920240"/>
            <a:ext cx="6217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It's closest to the user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88720" y="2313432"/>
            <a:ext cx="6217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2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other layer exists to support what happens here.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D6A0"/>
          </a:solidFill>
        </p:spPr>
      </p:sp>
      <p:sp>
        <p:nvSpPr>
          <p:cNvPr id="10" name="Text 7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88720" y="2971800"/>
            <a:ext cx="6217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It's about protocols, not programs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88720" y="3364992"/>
            <a:ext cx="6217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2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HTTP, DNS, SMTP — shared rules, not the apps themselves.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4069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D6A0"/>
          </a:solidFill>
        </p:spPr>
      </p:sp>
      <p:sp>
        <p:nvSpPr>
          <p:cNvPr id="14" name="Text 11"/>
          <p:cNvSpPr/>
          <p:nvPr/>
        </p:nvSpPr>
        <p:spPr>
          <a:xfrm>
            <a:off x="548640" y="40690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188720" y="4023360"/>
            <a:ext cx="6217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defines the message, not the wire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88720" y="4416552"/>
            <a:ext cx="6217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2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Format and meaning live here; delivery is handled below.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553212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6D6A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 — questions?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A9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3223</Words>
  <Application>WPS Presentation</Application>
  <PresentationFormat>On-screen Show (16:9)</PresentationFormat>
  <Paragraphs>245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Stuart Panda</cp:lastModifiedBy>
  <cp:revision>4</cp:revision>
  <dcterms:created xsi:type="dcterms:W3CDTF">2026-09-15T05:52:00Z</dcterms:created>
  <dcterms:modified xsi:type="dcterms:W3CDTF">2026-09-28T19:25:12Z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857554ADDA6D49409F5315A2135EC0BE_13</vt:lpwstr>
  </property>
</Properties>
</file>